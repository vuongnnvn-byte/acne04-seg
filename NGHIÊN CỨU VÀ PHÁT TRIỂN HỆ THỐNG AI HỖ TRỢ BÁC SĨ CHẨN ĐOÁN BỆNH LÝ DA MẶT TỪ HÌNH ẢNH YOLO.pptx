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  <p:sldMasterId id="2147483690" r:id="rId5"/>
  </p:sldMasterIdLst>
  <p:notesMasterIdLst>
    <p:notesMasterId r:id="rId22"/>
  </p:notesMasterIdLst>
  <p:handoutMasterIdLst>
    <p:handoutMasterId r:id="rId23"/>
  </p:handoutMasterIdLst>
  <p:sldIdLst>
    <p:sldId id="315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355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F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755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51D253-C8AA-7B05-B17D-8B4AEB9FA8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9CF16-4BE3-2E51-5FBC-2CC8DCFA4D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8DFF9-D954-4045-A6AB-461DD914726D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E0FDA-E286-82B3-0E2E-E579D13AA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40566-724F-7B06-6239-7D233F7AED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37F66-A223-A34D-9E00-842E7203180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4175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97289-DAE8-4C9E-A8DD-6D00F311DF1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84085-1B66-4C09-9FD5-90090CBEF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44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E8A80-BEDD-3B8B-E0AD-2A4B196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F12E3-C460-CFF0-2397-9891E413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D2489-055A-4040-3BD6-71CE92E3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233AE-C293-4240-44B4-C4CCF5306E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8" y="0"/>
            <a:ext cx="12191851" cy="68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5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E8A80-BEDD-3B8B-E0AD-2A4B196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F12E3-C460-CFF0-2397-9891E413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D2489-055A-4040-3BD6-71CE92E3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picture containing calendar&#10;&#10;Description automatically generated">
            <a:extLst>
              <a:ext uri="{FF2B5EF4-FFF2-40B4-BE49-F238E27FC236}">
                <a16:creationId xmlns:a16="http://schemas.microsoft.com/office/drawing/2014/main" id="{775CBC47-66D8-6B14-3700-5101CA9A86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" y="0"/>
            <a:ext cx="12191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8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F1B271-D828-FAD4-2D6E-FE5937471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4"/>
            <a:ext cx="12191851" cy="6858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A94B1C-90AA-693B-D6E2-F6D98D12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24" y="18255"/>
            <a:ext cx="10515600" cy="1325563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21D79-A5C5-6907-425F-1E81D8286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24" y="1681873"/>
            <a:ext cx="10515600" cy="4351338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0E792-172A-833A-6F50-587F56B7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34FA3D-CDFA-6372-403F-2F2F1C0B2ED4}"/>
              </a:ext>
            </a:extLst>
          </p:cNvPr>
          <p:cNvSpPr txBox="1">
            <a:spLocks/>
          </p:cNvSpPr>
          <p:nvPr userDrawn="1"/>
        </p:nvSpPr>
        <p:spPr>
          <a:xfrm>
            <a:off x="1942708" y="321385"/>
            <a:ext cx="8306434" cy="615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000">
              <a:solidFill>
                <a:srgbClr val="001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64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F1B271-D828-FAD4-2D6E-FE5937471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4"/>
            <a:ext cx="12191851" cy="6858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A94B1C-90AA-693B-D6E2-F6D98D12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24" y="18255"/>
            <a:ext cx="10515600" cy="1325563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21D79-A5C5-6907-425F-1E81D8286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24" y="1681873"/>
            <a:ext cx="10515600" cy="4351338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0E792-172A-833A-6F50-587F56B7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34FA3D-CDFA-6372-403F-2F2F1C0B2ED4}"/>
              </a:ext>
            </a:extLst>
          </p:cNvPr>
          <p:cNvSpPr txBox="1">
            <a:spLocks/>
          </p:cNvSpPr>
          <p:nvPr userDrawn="1"/>
        </p:nvSpPr>
        <p:spPr>
          <a:xfrm>
            <a:off x="1942708" y="321385"/>
            <a:ext cx="8306434" cy="615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000">
              <a:solidFill>
                <a:srgbClr val="001F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4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AD15-D119-3EC8-CC44-70BEA3B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A86BB-6BC0-9D87-3DB9-785B71EFD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3F056-854A-B42C-E05E-FAD8E313A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0A57-B6F0-C52A-A084-BED79297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C4353-A360-8F1B-B427-2F470FB6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1DD0A4-8111-B4A5-8A23-89C6E7C98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8" y="0"/>
            <a:ext cx="12191851" cy="6858084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E5ECC14-5837-1A2A-4230-80B7946BBE51}"/>
              </a:ext>
            </a:extLst>
          </p:cNvPr>
          <p:cNvSpPr txBox="1">
            <a:spLocks/>
          </p:cNvSpPr>
          <p:nvPr userDrawn="1"/>
        </p:nvSpPr>
        <p:spPr>
          <a:xfrm>
            <a:off x="3400425" y="648876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2E9BD3-7155-55B5-DC53-19DEAEE2ACE7}"/>
              </a:ext>
            </a:extLst>
          </p:cNvPr>
          <p:cNvSpPr txBox="1"/>
          <p:nvPr userDrawn="1"/>
        </p:nvSpPr>
        <p:spPr>
          <a:xfrm>
            <a:off x="282121" y="155571"/>
            <a:ext cx="3855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UTM Neutra" panose="02040603050506020204" pitchFamily="18" charset="0"/>
              </a:rPr>
              <a:t>CHƯƠNG 1: TỔNG QUAN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5E6485-FA4A-8EEC-5351-59431317D7CB}"/>
              </a:ext>
            </a:extLst>
          </p:cNvPr>
          <p:cNvCxnSpPr>
            <a:cxnSpLocks/>
          </p:cNvCxnSpPr>
          <p:nvPr userDrawn="1"/>
        </p:nvCxnSpPr>
        <p:spPr>
          <a:xfrm>
            <a:off x="371475" y="501012"/>
            <a:ext cx="233514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B06640-5366-A68D-F217-AB17AE3CEB1E}"/>
              </a:ext>
            </a:extLst>
          </p:cNvPr>
          <p:cNvSpPr txBox="1"/>
          <p:nvPr userDrawn="1"/>
        </p:nvSpPr>
        <p:spPr>
          <a:xfrm>
            <a:off x="282121" y="524902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85189"/>
                </a:solidFill>
                <a:latin typeface="UTM Neutra" panose="02040603050506020204" pitchFamily="18" charset="0"/>
              </a:rPr>
              <a:t>1.1 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11948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2B175-B3D0-2F50-4BE0-5C1C5BFA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4F3EE-651B-C7A4-7C4B-F86E5D17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CEE28-EB67-1727-82A8-9EB50F93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BC4DE8E7-D11B-BA5E-7E38-EDDC2AA8F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7371"/>
            <a:ext cx="12192000" cy="1400629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C9DFFF3-6EF9-386C-317D-6AFECFF277C3}"/>
              </a:ext>
            </a:extLst>
          </p:cNvPr>
          <p:cNvSpPr txBox="1">
            <a:spLocks/>
          </p:cNvSpPr>
          <p:nvPr userDrawn="1"/>
        </p:nvSpPr>
        <p:spPr>
          <a:xfrm>
            <a:off x="9296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460D0-200A-937A-8A2A-B7A97F2A8D23}"/>
              </a:ext>
            </a:extLst>
          </p:cNvPr>
          <p:cNvSpPr txBox="1"/>
          <p:nvPr userDrawn="1"/>
        </p:nvSpPr>
        <p:spPr>
          <a:xfrm>
            <a:off x="297543" y="217714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UTM Neutra" panose="02040603050506020204" pitchFamily="18" charset="0"/>
              </a:rPr>
              <a:t>CHƯƠNG 1: TỔNG QUAN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3E8B11-B11E-4836-9E0A-CCECE2E44E66}"/>
              </a:ext>
            </a:extLst>
          </p:cNvPr>
          <p:cNvCxnSpPr>
            <a:cxnSpLocks/>
          </p:cNvCxnSpPr>
          <p:nvPr userDrawn="1"/>
        </p:nvCxnSpPr>
        <p:spPr>
          <a:xfrm flipV="1">
            <a:off x="371475" y="494125"/>
            <a:ext cx="2047634" cy="588"/>
          </a:xfrm>
          <a:prstGeom prst="line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BEE2CC-74A1-111D-2E46-E975A15F4E03}"/>
              </a:ext>
            </a:extLst>
          </p:cNvPr>
          <p:cNvSpPr txBox="1"/>
          <p:nvPr userDrawn="1"/>
        </p:nvSpPr>
        <p:spPr>
          <a:xfrm>
            <a:off x="3402693" y="217126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85189"/>
                </a:solidFill>
                <a:latin typeface="UTM Neutra" panose="02040603050506020204" pitchFamily="18" charset="0"/>
              </a:rPr>
              <a:t>1.1 ĐỀ CƯƠNG CHI TIẾT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6DB47C-4FFB-0B52-97E8-CFD46BF2D6FC}"/>
              </a:ext>
            </a:extLst>
          </p:cNvPr>
          <p:cNvCxnSpPr>
            <a:cxnSpLocks/>
          </p:cNvCxnSpPr>
          <p:nvPr userDrawn="1"/>
        </p:nvCxnSpPr>
        <p:spPr>
          <a:xfrm>
            <a:off x="3476625" y="494125"/>
            <a:ext cx="1639385" cy="0"/>
          </a:xfrm>
          <a:prstGeom prst="line">
            <a:avLst/>
          </a:prstGeom>
          <a:ln w="12700">
            <a:solidFill>
              <a:srgbClr val="08518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9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2B175-B3D0-2F50-4BE0-5C1C5BFA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4F3EE-651B-C7A4-7C4B-F86E5D17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CEE28-EB67-1727-82A8-9EB50F93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BC4DE8E7-D11B-BA5E-7E38-EDDC2AA8F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7371"/>
            <a:ext cx="12192000" cy="1400629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C9DFFF3-6EF9-386C-317D-6AFECFF277C3}"/>
              </a:ext>
            </a:extLst>
          </p:cNvPr>
          <p:cNvSpPr txBox="1">
            <a:spLocks/>
          </p:cNvSpPr>
          <p:nvPr userDrawn="1"/>
        </p:nvSpPr>
        <p:spPr>
          <a:xfrm>
            <a:off x="9296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460D0-200A-937A-8A2A-B7A97F2A8D23}"/>
              </a:ext>
            </a:extLst>
          </p:cNvPr>
          <p:cNvSpPr txBox="1"/>
          <p:nvPr userDrawn="1"/>
        </p:nvSpPr>
        <p:spPr>
          <a:xfrm>
            <a:off x="297543" y="217714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UTM Neutra" panose="02040603050506020204" pitchFamily="18" charset="0"/>
              </a:rPr>
              <a:t>HƯỚNG DẪN SỬ DỤNG BỘ NHẬN DIỆN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3E8B11-B11E-4836-9E0A-CCECE2E44E66}"/>
              </a:ext>
            </a:extLst>
          </p:cNvPr>
          <p:cNvCxnSpPr>
            <a:cxnSpLocks/>
          </p:cNvCxnSpPr>
          <p:nvPr userDrawn="1"/>
        </p:nvCxnSpPr>
        <p:spPr>
          <a:xfrm>
            <a:off x="371475" y="494713"/>
            <a:ext cx="2743200" cy="0"/>
          </a:xfrm>
          <a:prstGeom prst="line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BEE2CC-74A1-111D-2E46-E975A15F4E03}"/>
              </a:ext>
            </a:extLst>
          </p:cNvPr>
          <p:cNvSpPr txBox="1"/>
          <p:nvPr userDrawn="1"/>
        </p:nvSpPr>
        <p:spPr>
          <a:xfrm>
            <a:off x="3402693" y="217126"/>
            <a:ext cx="3855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85189"/>
                </a:solidFill>
                <a:latin typeface="UTM Neutra" panose="02040603050506020204" pitchFamily="18" charset="0"/>
              </a:rPr>
              <a:t>Quà tặng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6DB47C-4FFB-0B52-97E8-CFD46BF2D6FC}"/>
              </a:ext>
            </a:extLst>
          </p:cNvPr>
          <p:cNvCxnSpPr>
            <a:cxnSpLocks/>
          </p:cNvCxnSpPr>
          <p:nvPr userDrawn="1"/>
        </p:nvCxnSpPr>
        <p:spPr>
          <a:xfrm>
            <a:off x="3476625" y="494125"/>
            <a:ext cx="778852" cy="0"/>
          </a:xfrm>
          <a:prstGeom prst="line">
            <a:avLst/>
          </a:prstGeom>
          <a:ln w="12700">
            <a:solidFill>
              <a:srgbClr val="08518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20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4484-B245-9786-96F3-ACCEA902C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9F73-0429-1113-2FF0-D37AC808D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24FBF-32A7-F2F3-76F1-0BAEF05B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23DC7-77C8-68D3-5521-66F1B89A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42FC1-5327-03BD-A517-DC428CBF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 with medium confidence">
            <a:extLst>
              <a:ext uri="{FF2B5EF4-FFF2-40B4-BE49-F238E27FC236}">
                <a16:creationId xmlns:a16="http://schemas.microsoft.com/office/drawing/2014/main" id="{B74BDEF2-764A-5CA4-2205-ABE449F1B7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0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7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7E74-2157-8156-D04F-4345F804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8762B-AC7A-09DA-B823-68098AE1F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6B2A-EBD2-4E27-D79A-E6E2B456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86395-86D3-03C1-3B7F-E37C1BD6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16C12-62D9-196B-F6E4-808B448B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CB0268BD-9039-7D8F-5503-DC5674B51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" b="11387"/>
          <a:stretch/>
        </p:blipFill>
        <p:spPr>
          <a:xfrm>
            <a:off x="0" y="0"/>
            <a:ext cx="12208745" cy="685799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9B322-54B7-818A-16B3-D0BEBF7BBB76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V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3FD51-9557-5B71-222D-1EE865B9A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83093-D493-DBD1-689A-0AFC949EA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BEB4-4BA4-2960-22AC-0D3DAB8A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07CD8-5FDF-F57C-8028-DF6EFC3D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75602-A385-B1CF-A625-E09A8A6E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6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0C4C-2721-EF8A-87FA-DF3697AF1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65CAC-470F-FB10-EF9B-ADF4CBA29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DB4B1-4694-9F7D-7268-75C4EA5B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5EB09-A3C3-F1A5-F128-F88BEDF1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27631-79B9-BB38-EBE9-542AEA47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5592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FC69-B0B5-8B6C-BC84-819A3A45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262DA-1FEC-4310-5E46-1B04C326D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CCD9-EE5B-D53A-6B43-C9729A70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4C1D6-16C3-11C2-7E8D-1BCAE3BC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B73A8-DD30-7C39-4428-0096F348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0276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6F02E-2A60-075B-EE80-529C57F9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FBD82-7586-2BE7-4634-B656885B8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6D4FD-E0D4-FF72-1D72-DDE7020A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372A2-CDF4-71B7-02E3-EC66216C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BD52-32DC-87F3-F017-EDFB77B4D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8474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D7C9-251A-681F-FE90-F34ADC8B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F3CD-9CD1-47EA-478D-273375EB5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0CBA9-C53B-82AF-7BCD-2815CF24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96E49-68E5-6D5B-01D2-E2D70F2A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AF9F3-C662-679D-F399-835AF38B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EDE3D-A4F3-EB1E-22B4-4117E025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9715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F3F0-A2D0-43BE-1440-E232FC5D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F7E0-3EA1-4F41-B806-D73ADBD43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8570D-AFEB-1AAE-9C9E-975975C97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40D04-A956-8A5A-B626-B2B932B32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A8101-3C77-8F81-87DF-36657E3A5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EA63A-D8CF-C7ED-C49D-53AE004C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F494-9142-8A94-C1EB-15333920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81F19-E634-7695-DE81-1B64A6A3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3057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1332-A738-0195-0BE7-1564292B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8FC58-5A1E-2BDB-489E-9D8723FA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F07EC-41A4-246E-ADD0-D5E0F29A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3DA24-A916-89D0-C915-6FEA840A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26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1A2AA-D5E8-51EE-3DC1-F806D400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10BE0-29E0-0DA6-DCD6-A9111C19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19D22-205D-E0A3-D8AD-4C22C55E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536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BEAE-7329-21A4-6E2B-B246F602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01AD-73BE-8BFE-BF3B-7C0AFADD5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0BD2-3126-4882-EBDC-31345AFB0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EA815-0D22-42C9-B3CC-6202DB70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D32BD-D54E-0425-2411-645F3C8A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9C717-4274-9731-E543-C526C17A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713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1E17-C0BA-B98B-C131-02AB417E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C6A9F-A3EB-93C4-42C7-63E9363B3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23D5F-97AD-F85D-95FF-D47522B7C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B80D7-ADD1-3C53-9F2E-EBB92FF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58B42-9186-334D-EFF9-B4AA8397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D31C5-65B6-0F87-CD6F-85FDA42D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9936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C922-DFDE-C14F-0F4B-742A1A36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028C8-6F83-8C09-F846-4C3F6386F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73228-D08F-4EB8-FE17-E285A27A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1202-52CC-8C1F-9A8F-2B03A8DD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30BFF-703A-130E-8C91-B47C6584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6936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39CBB-B51D-946A-0B42-E45B983D8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C03C2-E70E-6F1C-072B-618EAE4E3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F999A-F71C-5FEC-8490-FA19564D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B2F99-75A3-22E7-186D-36F1198C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5AF24-1837-7DF1-C937-2917E6AE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4252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1AEE7-1745-7095-F664-6B95264B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03A21-2772-3828-7AC5-78FFACCBC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73718-709B-4497-A711-65AA029D6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9B663-BDC2-451F-9FFD-E3F973D4142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90932-8E1F-6DBB-5A0C-DF2410DAB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7DC62-3F95-5ACD-3C31-558A19C8C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9A2A8-896A-4908-99A1-F33C2133E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7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2" r:id="rId2"/>
    <p:sldLayoutId id="2147483688" r:id="rId3"/>
    <p:sldLayoutId id="2147483703" r:id="rId4"/>
    <p:sldLayoutId id="2147483686" r:id="rId5"/>
    <p:sldLayoutId id="2147483676" r:id="rId6"/>
    <p:sldLayoutId id="2147483679" r:id="rId7"/>
    <p:sldLayoutId id="2147483680" r:id="rId8"/>
    <p:sldLayoutId id="2147483681" r:id="rId9"/>
    <p:sldLayoutId id="2147483689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20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7EEC1-4213-8FCF-3A7A-908258F0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1D829-DE05-9850-6373-B3F86F885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05DE-8349-AD99-ED16-5AFD4E61F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83637-48B6-A043-8832-174EC4489555}" type="datetimeFigureOut">
              <a:rPr lang="en-VN" smtClean="0"/>
              <a:t>10/14/2026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5248B-C816-9A17-B3A8-FF9BC75DD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D0FF6-0F0C-669D-25BE-9D651C0A3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46AC3-7438-9240-8346-AC58A05A36AC}" type="slidenum">
              <a:rPr lang="en-VN" smtClean="0"/>
              <a:t>‹#›</a:t>
            </a:fld>
            <a:endParaRPr lang="en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A554B-9BF6-355F-690C-1F3ED34B2FA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1851" cy="685808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3A4733-A858-7A28-2A27-78134C3F356D}"/>
              </a:ext>
            </a:extLst>
          </p:cNvPr>
          <p:cNvSpPr txBox="1">
            <a:spLocks/>
          </p:cNvSpPr>
          <p:nvPr userDrawn="1"/>
        </p:nvSpPr>
        <p:spPr>
          <a:xfrm>
            <a:off x="4724325" y="640009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VN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A9A2A8-896A-4908-99A1-F33C2133E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9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E304755B-4941-8104-B3FA-D88B4F338A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321" y="96086"/>
            <a:ext cx="914558" cy="914558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0A73F892-35CB-9D87-EFBE-8E30ED98FCA0}"/>
              </a:ext>
            </a:extLst>
          </p:cNvPr>
          <p:cNvSpPr txBox="1">
            <a:spLocks/>
          </p:cNvSpPr>
          <p:nvPr/>
        </p:nvSpPr>
        <p:spPr>
          <a:xfrm>
            <a:off x="798118" y="1010644"/>
            <a:ext cx="10595765" cy="5391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699" algn="ctr">
              <a:spcBef>
                <a:spcPts val="100"/>
              </a:spcBef>
            </a:pPr>
            <a:r>
              <a:rPr lang="en-US" sz="3800" b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 GIÁC MÁY TÍNH</a:t>
            </a:r>
            <a:endParaRPr lang="vi-VN" sz="38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28220F-EC6B-4F61-4C27-46B73B3C675E}"/>
              </a:ext>
            </a:extLst>
          </p:cNvPr>
          <p:cNvSpPr txBox="1"/>
          <p:nvPr/>
        </p:nvSpPr>
        <p:spPr>
          <a:xfrm>
            <a:off x="4035179" y="5662690"/>
            <a:ext cx="4121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VN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Đà nẵng, </a:t>
            </a:r>
            <a:r>
              <a:rPr lang="en-VN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 </a:t>
            </a:r>
            <a:r>
              <a:rPr lang="en-US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VN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tháng 0</a:t>
            </a:r>
            <a:r>
              <a:rPr lang="en-US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VN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VN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năm 2026 </a:t>
            </a: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7FD7A43E-9532-EB11-FE8C-C83DF8AE8EE2}"/>
              </a:ext>
            </a:extLst>
          </p:cNvPr>
          <p:cNvSpPr txBox="1">
            <a:spLocks/>
          </p:cNvSpPr>
          <p:nvPr/>
        </p:nvSpPr>
        <p:spPr>
          <a:xfrm>
            <a:off x="1097201" y="1854821"/>
            <a:ext cx="1010412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200" b="1" i="0" u="sng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/>
            <a:r>
              <a:rPr lang="en-US" sz="32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 TÀI: NGHIÊN CỨU VÀ PHÁT TRIỂN HỆ THỐNG AI HỖ TRỢ BÁC SĨ CHẨN ĐOÁN BỆNH LÝ DA MẶT TỪ HÌNH ẢNH YOLO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22CD93C1-E49C-B624-51B7-F36C9988877B}"/>
              </a:ext>
            </a:extLst>
          </p:cNvPr>
          <p:cNvSpPr txBox="1">
            <a:spLocks/>
          </p:cNvSpPr>
          <p:nvPr/>
        </p:nvSpPr>
        <p:spPr>
          <a:xfrm>
            <a:off x="2538733" y="3537015"/>
            <a:ext cx="7949565" cy="1936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200" b="1" i="0" u="sng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sz="25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 viên hướng dẫn: 	TS. Huỳnh Hữu Hưng</a:t>
            </a:r>
          </a:p>
          <a:p>
            <a:endParaRPr lang="en-US" sz="2500" u="none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 viên : 			Nguyễn Nhất Vương</a:t>
            </a:r>
          </a:p>
          <a:p>
            <a:r>
              <a:rPr lang="en-US" sz="25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Nguyễn Minh Hậu</a:t>
            </a:r>
          </a:p>
          <a:p>
            <a:r>
              <a:rPr lang="en-US" sz="25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Lớp: 				K51.KMT.NC</a:t>
            </a:r>
          </a:p>
        </p:txBody>
      </p:sp>
    </p:spTree>
    <p:extLst>
      <p:ext uri="{BB962C8B-B14F-4D97-AF65-F5344CB8AC3E}">
        <p14:creationId xmlns:p14="http://schemas.microsoft.com/office/powerpoint/2010/main" val="137672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0356"/>
            <a:ext cx="35052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50356"/>
            <a:ext cx="35052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0356"/>
            <a:ext cx="350520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850356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850356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850356"/>
            <a:ext cx="35052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93256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93256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193256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1. ĐẶT VẤN ĐỀ VÀ ĐỘNG LỰC NGHIÊN CỨU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Thách Thức Phân Đoạn Vi Tổn Thương Mụn Lâm Sàng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650456"/>
            <a:ext cx="39004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Đặc trưng vi mô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50506"/>
            <a:ext cx="3067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Ranh giới mờ nhạt, kích thước nốt mụn siêu nhỏ.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650456"/>
            <a:ext cx="39004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Domain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050506"/>
            <a:ext cx="3067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Suy giảm hiệu năng trên nguồn ảnh ngoại suy.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650456"/>
            <a:ext cx="38481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Edge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050506"/>
            <a:ext cx="3067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Kiến trúc siêu nhẹ trên phần cứng biên y tế.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0D06A960-DD63-541D-173D-1BFE981D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Vertical Text Placeholder 19">
            <a:extLst>
              <a:ext uri="{FF2B5EF4-FFF2-40B4-BE49-F238E27FC236}">
                <a16:creationId xmlns:a16="http://schemas.microsoft.com/office/drawing/2014/main" id="{5DAE7F15-828F-D3DC-A4E8-9D9C77C4C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379118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78918"/>
            <a:ext cx="2595562" cy="1362075"/>
          </a:xfrm>
          <a:prstGeom prst="roundRect">
            <a:avLst>
              <a:gd name="adj" fmla="val 69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5662" y="2778918"/>
            <a:ext cx="2595562" cy="1362075"/>
          </a:xfrm>
          <a:prstGeom prst="roundRect">
            <a:avLst>
              <a:gd name="adj" fmla="val 69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1725" y="2778918"/>
            <a:ext cx="2595562" cy="1362075"/>
          </a:xfrm>
          <a:prstGeom prst="roundRect">
            <a:avLst>
              <a:gd name="adj" fmla="val 69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7787" y="2769393"/>
            <a:ext cx="2614612" cy="1381125"/>
          </a:xfrm>
          <a:prstGeom prst="roundRect">
            <a:avLst>
              <a:gd name="adj" fmla="val 689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2. TỔNG QUAN PHƯƠNG PHÁP HỌC MÁY HIỆN ĐẠI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So Sánh Các Trường Phái Xử Lý Tổn Thương Mụn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550568"/>
            <a:ext cx="11353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Đánh giá nhóm: Giải quyết triệt để sự đánh đổi giữa độ phân giải cá thể và tính khả thi trên thiết bị biên.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007518"/>
            <a:ext cx="290661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lus Jakarta Sans"/>
              </a:rPr>
              <a:t>U-Net / U-Net++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40893"/>
            <a:ext cx="230981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Mất ranh giới cá thể từng nốt mụn.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6162" y="3007518"/>
            <a:ext cx="290661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lus Jakarta Sans"/>
              </a:rPr>
              <a:t>Swin-Unet / BCP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6162" y="3340893"/>
            <a:ext cx="230981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Tham số lớn (&gt;25M), suy luận chậm.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225" y="3007518"/>
            <a:ext cx="290661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lus Jakarta Sans"/>
              </a:rPr>
              <a:t>Mask R-CNN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340893"/>
            <a:ext cx="230981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Độ trễ cao (&gt;100ms), khó chạy biên.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7812" y="3007518"/>
            <a:ext cx="290661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4ED8"/>
                </a:solidFill>
                <a:latin typeface="Plus Jakarta Sans"/>
              </a:rPr>
              <a:t>YOLO-seg Nano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7812" y="3340893"/>
            <a:ext cx="230981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E40AF"/>
                </a:solidFill>
                <a:latin typeface="Plus Jakarta Sans"/>
              </a:rPr>
              <a:t>Siêu nhẹ (&lt;3.1M), thời gian thực.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1C25478-BDD4-3894-9EDB-F8709B58A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Vertical Text Placeholder 18">
            <a:extLst>
              <a:ext uri="{FF2B5EF4-FFF2-40B4-BE49-F238E27FC236}">
                <a16:creationId xmlns:a16="http://schemas.microsoft.com/office/drawing/2014/main" id="{AA02D299-8356-781E-E14F-98347CE76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26756"/>
            <a:ext cx="10972800" cy="647700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02706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602706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02706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3. CÔNG TRÌNH TIÊU BIỂU GẦN NHẤT &amp; ĐỊNH VỊ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Các Nghiên Cứu Tiền Đề và Khoảng Trống Học Thuật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707731"/>
            <a:ext cx="11344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66534"/>
                </a:solidFill>
                <a:latin typeface="Plus Jakarta Sans"/>
              </a:rPr>
              <a:t>Định vị nghiên cứu: Khảo nghiệm đối đầu trực tiếp YOLO11n-seg vs YOLO26n-seg trên 10.801 ảnh y tế ngoại suy.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850356"/>
            <a:ext cx="3762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Plus Jakarta Sans"/>
              </a:rPr>
              <a:t>BENCHMARK GỐC (2019-2022)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136106"/>
            <a:ext cx="39504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Wu et al. (ACNE04)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479006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Chỉ có nhãn hộp thô (BBox), thiếu mặt nạ vi mô.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1050" y="2850356"/>
            <a:ext cx="3762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Plus Jakarta Sans"/>
              </a:rPr>
              <a:t>MDPI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1050" y="3136106"/>
            <a:ext cx="39504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Kim et al. (BCP)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050" y="3479006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Chỉ đánh giá nội miền trên ảnh cắt nhỏ.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850" y="2850356"/>
            <a:ext cx="3762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Plus Jakarta Sans"/>
              </a:rPr>
              <a:t>TỔNG QUAN (2025-2026)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3136106"/>
            <a:ext cx="38671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Hair et al. (Review)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850" y="3479006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Chưa đối đầu thế hệ YOLO mới trên đa miền độc lập.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02E7A69-0499-DFF5-144A-AE0AC9DC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Vertical Text Placeholder 18">
            <a:extLst>
              <a:ext uri="{FF2B5EF4-FFF2-40B4-BE49-F238E27FC236}">
                <a16:creationId xmlns:a16="http://schemas.microsoft.com/office/drawing/2014/main" id="{A0FD63F1-DBB7-4C96-56CD-256B2310D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9881"/>
            <a:ext cx="5343525" cy="20574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9825" y="2859881"/>
            <a:ext cx="5362575" cy="2057400"/>
          </a:xfrm>
          <a:prstGeom prst="roundRect">
            <a:avLst>
              <a:gd name="adj" fmla="val 5555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4. HỆ TIÊU CHÍ ĐÁNH GIÁ VÀ ĐỐI SÁNH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Khung Tiêu Chí Khoa Học: Y Văn vs Nghiên Cứu Này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26581"/>
            <a:ext cx="631328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75569"/>
                </a:solidFill>
                <a:latin typeface="Plus Jakarta Sans"/>
              </a:rPr>
              <a:t>Tiêu chí y văn thông thường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6050" y="3136106"/>
            <a:ext cx="56959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4ED8"/>
                </a:solidFill>
                <a:latin typeface="Plus Jakarta Sans"/>
              </a:rPr>
              <a:t>Hệ tiêu chí đa tầng đề xuất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45681"/>
            <a:ext cx="60126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64748B"/>
                </a:solidFill>
                <a:latin typeface="Plus Jakarta Sans"/>
              </a:rPr>
              <a:t>mAP@0.5:</a:t>
            </a:r>
            <a:r>
              <a:rPr sz="1500" b="0" i="0" u="none">
                <a:solidFill>
                  <a:srgbClr val="64748B"/>
                </a:solidFill>
                <a:latin typeface="Plus Jakarta Sans"/>
              </a:rPr>
              <a:t> Đo vùng bao thô.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945731"/>
            <a:ext cx="60126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64748B"/>
                </a:solidFill>
                <a:latin typeface="Plus Jakarta Sans"/>
              </a:rPr>
              <a:t>Semantic Dice:</a:t>
            </a:r>
            <a:r>
              <a:rPr sz="1500" b="0" i="0" u="none">
                <a:solidFill>
                  <a:srgbClr val="64748B"/>
                </a:solidFill>
                <a:latin typeface="Plus Jakarta Sans"/>
              </a:rPr>
              <a:t> Diện tích mụn gộp.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45781"/>
            <a:ext cx="60126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64748B"/>
                </a:solidFill>
                <a:latin typeface="Plus Jakarta Sans"/>
              </a:rPr>
              <a:t>Thiếu sót:</a:t>
            </a:r>
            <a:r>
              <a:rPr sz="1500" b="0" i="0" u="none">
                <a:solidFill>
                  <a:srgbClr val="64748B"/>
                </a:solidFill>
                <a:latin typeface="Plus Jakarta Sans"/>
              </a:rPr>
              <a:t> Không kiểm định phi tham số.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3555206"/>
            <a:ext cx="56959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E40AF"/>
                </a:solidFill>
                <a:latin typeface="Plus Jakarta Sans"/>
              </a:rPr>
              <a:t>Cấp cá thể:</a:t>
            </a:r>
            <a:r>
              <a:rPr sz="1500" b="0" i="0" u="none">
                <a:solidFill>
                  <a:srgbClr val="1E40AF"/>
                </a:solidFill>
                <a:latin typeface="Plus Jakarta Sans"/>
              </a:rPr>
              <a:t> Mask mAP@0.5 và mAP@0.5:0.95.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3955256"/>
            <a:ext cx="56959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E40AF"/>
                </a:solidFill>
                <a:latin typeface="Plus Jakarta Sans"/>
              </a:rPr>
              <a:t>Cấp toàn ảnh:</a:t>
            </a:r>
            <a:r>
              <a:rPr sz="1500" b="0" i="0" u="none">
                <a:solidFill>
                  <a:srgbClr val="1E40AF"/>
                </a:solidFill>
                <a:latin typeface="Plus Jakarta Sans"/>
              </a:rPr>
              <a:t> Pixel Union Dice &amp; IoU với 95% CI.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4355306"/>
            <a:ext cx="56959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E40AF"/>
                </a:solidFill>
                <a:latin typeface="Plus Jakarta Sans"/>
              </a:rPr>
              <a:t>Kiểm định:</a:t>
            </a:r>
            <a:r>
              <a:rPr sz="1500" b="0" i="0" u="none">
                <a:solidFill>
                  <a:srgbClr val="1E40AF"/>
                </a:solidFill>
                <a:latin typeface="Plus Jakarta Sans"/>
              </a:rPr>
              <a:t> Paired Wilcoxon và Holm correction.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84B04AA-3333-0C2B-3CCA-CA48B946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36281"/>
            <a:ext cx="10972800" cy="6667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117056"/>
            <a:ext cx="233883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48433" y="3117056"/>
            <a:ext cx="199236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40796" y="3117056"/>
            <a:ext cx="202123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62030" y="3117056"/>
            <a:ext cx="462036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693318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48433" y="3693318"/>
            <a:ext cx="1992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40796" y="3693318"/>
            <a:ext cx="202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62030" y="3693318"/>
            <a:ext cx="4620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255293"/>
            <a:ext cx="23388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48433" y="4255293"/>
            <a:ext cx="1992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40796" y="4255293"/>
            <a:ext cx="2021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62030" y="4255293"/>
            <a:ext cx="46203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" y="2574131"/>
          <a:ext cx="10972798" cy="1695450"/>
        </p:xfrm>
        <a:graphic>
          <a:graphicData uri="http://schemas.openxmlformats.org/drawingml/2006/table">
            <a:tbl>
              <a:tblPr/>
              <a:tblGrid>
                <a:gridCol w="2338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0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Kiến trúc / Phần cứng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Tham số (Params)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Cấu hình tính toán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Đặc tính kỹ thuật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YOLO11n-seg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2.843 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GTX 1650 (4 GB)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C2PSA attention tối ưu phát hiện tổn thương nhỏ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YOLO26n-seg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3.053 M (+7.39%)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GTX 1650 (4 GB)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Tăng cường phân giải mặt nạ đa giác vi mô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5. ĐỐI TƯỢNG VÀ KIẾN TRÚC MÔ HÌNH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Bảng 1: Thông Số Kỹ Thuật và Nền Tảng Tính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726781"/>
            <a:ext cx="11353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Plus Jakarta Sans"/>
              </a:rPr>
              <a:t>Môi trường kiểm thử: Đo lường thời gian thực trên GPU biên phổ thông phục vụ ứng dụng lâm sàng thực tế.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09716C94-DCCC-1073-118E-59786EB6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Vertical Text Placeholder 19">
            <a:extLst>
              <a:ext uri="{FF2B5EF4-FFF2-40B4-BE49-F238E27FC236}">
                <a16:creationId xmlns:a16="http://schemas.microsoft.com/office/drawing/2014/main" id="{00675046-8EDD-7712-17C6-F0D092B3E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7145"/>
            <a:ext cx="5353050" cy="2022871"/>
          </a:xfrm>
          <a:prstGeom prst="roundRect">
            <a:avLst>
              <a:gd name="adj" fmla="val 5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877145"/>
            <a:ext cx="5353050" cy="2022871"/>
          </a:xfrm>
          <a:prstGeom prst="roundRect">
            <a:avLst>
              <a:gd name="adj" fmla="val 5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542853"/>
            <a:ext cx="1998612" cy="3381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3524845"/>
            <a:ext cx="3028205" cy="536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6. CƠ SỞ TOÁN HỌC VÀ CHỈ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Định Thức Pixel-wise Union và Khoảng Cách Ngoại Suy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43845"/>
            <a:ext cx="632579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Hệ số tương đồng Dice (Eq.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80991"/>
            <a:ext cx="6024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Hợp nhất vi tổn thương thành ma trận nhị phân toàn ảnh.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3143845"/>
            <a:ext cx="56959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Khoảng cách ngoại suy (Eq.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4061817"/>
            <a:ext cx="49149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Đo lường độ suy giảm hiệu năng khi chuyển miền dữ liệu.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3F1816-74D5-42F5-075D-E5D8C46A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Vertical Text Placeholder 12">
            <a:extLst>
              <a:ext uri="{FF2B5EF4-FFF2-40B4-BE49-F238E27FC236}">
                <a16:creationId xmlns:a16="http://schemas.microsoft.com/office/drawing/2014/main" id="{3A89EF93-C26B-C570-D8E3-5421E5ABD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9381"/>
            <a:ext cx="3505200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69381"/>
            <a:ext cx="3505200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69381"/>
            <a:ext cx="3505200" cy="2438400"/>
          </a:xfrm>
          <a:prstGeom prst="roundRect">
            <a:avLst>
              <a:gd name="adj" fmla="val 468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7. THIẾT KẾ THỰC NGHIỆM ĐA MIỀN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Ba Tập Dữ Liệu Khảo Nghiệm Độc Lập (N = 10.801 Ảnh)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974181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Plus Jakarta Sans"/>
              </a:rPr>
              <a:t>NỘI MIỀN NGUỒN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78981"/>
            <a:ext cx="38100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900" b="1" i="0" u="none">
                <a:solidFill>
                  <a:srgbClr val="0F172A"/>
                </a:solidFill>
                <a:latin typeface="Plus Jakarta Sans"/>
              </a:rPr>
              <a:t>711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888581"/>
            <a:ext cx="4000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In-domain (ACNE04)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31481"/>
            <a:ext cx="314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Kiểm tra năng lực khớp mẫu cùng phân phối đào tạo.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74181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Plus Jakarta Sans"/>
              </a:rPr>
              <a:t>NGOẠI SUY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78981"/>
            <a:ext cx="38100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900" b="1" i="0" u="none">
                <a:solidFill>
                  <a:srgbClr val="0F172A"/>
                </a:solidFill>
                <a:latin typeface="Plus Jakarta Sans"/>
              </a:rPr>
              <a:t>2.409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88581"/>
            <a:ext cx="4000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Wrinkles / Acne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31481"/>
            <a:ext cx="314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Tách biệt tổn thương mụn lẫn nếp nhăn lão hóa.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974181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766E"/>
                </a:solidFill>
                <a:latin typeface="Plus Jakarta Sans"/>
              </a:rPr>
              <a:t>NGOẠI SUY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278981"/>
            <a:ext cx="38100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900" b="1" i="0" u="none">
                <a:solidFill>
                  <a:srgbClr val="0F172A"/>
                </a:solidFill>
                <a:latin typeface="Plus Jakarta Sans"/>
              </a:rPr>
              <a:t>7.681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888581"/>
            <a:ext cx="388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Whitehead / Acne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231481"/>
            <a:ext cx="314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Kiểm thử quy mô lớn đa dạng mụn viêm và đầu trắng.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D19F65B4-CC83-F64D-34D9-40EAEF12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Vertical Text Placeholder 19">
            <a:extLst>
              <a:ext uri="{FF2B5EF4-FFF2-40B4-BE49-F238E27FC236}">
                <a16:creationId xmlns:a16="http://schemas.microsoft.com/office/drawing/2014/main" id="{EC17B9E1-9093-2DD5-C91B-944138405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59831"/>
            <a:ext cx="182701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6614" y="2459831"/>
            <a:ext cx="250447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41093" y="2459831"/>
            <a:ext cx="128304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24141" y="2459831"/>
            <a:ext cx="112901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53151" y="2459831"/>
            <a:ext cx="210413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457283" y="2459831"/>
            <a:ext cx="212511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036093"/>
            <a:ext cx="1827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36614" y="3036093"/>
            <a:ext cx="250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41093" y="3036093"/>
            <a:ext cx="128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24141" y="3036093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53151" y="3036093"/>
            <a:ext cx="2104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57283" y="3036093"/>
            <a:ext cx="21251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598068"/>
            <a:ext cx="1827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36614" y="3598068"/>
            <a:ext cx="250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41093" y="3598068"/>
            <a:ext cx="128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4141" y="3598068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53151" y="3598068"/>
            <a:ext cx="2104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57283" y="3598068"/>
            <a:ext cx="21251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600" y="4160043"/>
            <a:ext cx="1827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36614" y="4160043"/>
            <a:ext cx="250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41093" y="4160043"/>
            <a:ext cx="128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24141" y="4160043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53151" y="4160043"/>
            <a:ext cx="2104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57283" y="4160043"/>
            <a:ext cx="21251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600" y="4722018"/>
            <a:ext cx="1827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436614" y="4722018"/>
            <a:ext cx="250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41093" y="4722018"/>
            <a:ext cx="128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24141" y="4722018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53151" y="4722018"/>
            <a:ext cx="2104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57283" y="4722018"/>
            <a:ext cx="21251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" y="5283993"/>
            <a:ext cx="1827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436614" y="5283993"/>
            <a:ext cx="250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41093" y="5283993"/>
            <a:ext cx="128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24141" y="5283993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53151" y="5283993"/>
            <a:ext cx="2104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57283" y="5283993"/>
            <a:ext cx="21251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9600" y="5845968"/>
            <a:ext cx="1827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436614" y="5845968"/>
            <a:ext cx="250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941093" y="5845968"/>
            <a:ext cx="12830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24141" y="5845968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53151" y="5845968"/>
            <a:ext cx="2104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57283" y="5845968"/>
            <a:ext cx="21251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09600" y="1916906"/>
          <a:ext cx="10972798" cy="3943350"/>
        </p:xfrm>
        <a:graphic>
          <a:graphicData uri="http://schemas.openxmlformats.org/drawingml/2006/table">
            <a:tbl>
              <a:tblPr/>
              <a:tblGrid>
                <a:gridCol w="1827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4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5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Mô hình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Tập kiểm thử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Mask mAP@0.5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mAP@0.5:0.95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YOLO11n-seg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In-domain (ACNE04)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0.8496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0.8962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0.8049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0.4830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YOLO26n-seg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In-domain (ACNE04)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0.9301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0.8805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0.8865 (+8.16%)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0.5301 (+4.71%)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YOLO11n-seg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1 (Wrinkles)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0.8822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0.9278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0.8451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0.5304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YOLO26n-seg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1 (Wrinkles)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0.9505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0.9108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0.9149 (+6.98%)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0.5734 (+4.30%)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YOLO11n-seg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2 (Whitehead)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0.8491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0.8823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0.5075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34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YOLO26n-seg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2 (Whitehead)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0.8901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0.8690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0.8553 (+5.53%)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0.5361 (+2.86%)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8. KẾT QUẢ CẤP ĐỘ CÁ THỂ (INSTANCE-LEVEL)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Bảng 2: Độ Chính Xác Định Vị Tổn Thương Từng Điểm</a:t>
            </a: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874DDE77-DCC3-B5C8-1E78-D9D1E9E7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Vertical Text Placeholder 47">
            <a:extLst>
              <a:ext uri="{FF2B5EF4-FFF2-40B4-BE49-F238E27FC236}">
                <a16:creationId xmlns:a16="http://schemas.microsoft.com/office/drawing/2014/main" id="{F03D0CCB-9DA4-BAE2-79B3-5070B40EB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59831"/>
            <a:ext cx="174515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54758" y="2459831"/>
            <a:ext cx="244718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01939" y="2459831"/>
            <a:ext cx="122351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25455" y="2459831"/>
            <a:ext cx="278829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13750" y="2459831"/>
            <a:ext cx="276864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036093"/>
            <a:ext cx="1745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54758" y="3036093"/>
            <a:ext cx="244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1939" y="3036093"/>
            <a:ext cx="1223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25455" y="3036093"/>
            <a:ext cx="2788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13750" y="3036093"/>
            <a:ext cx="2768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598068"/>
            <a:ext cx="1745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54758" y="3598068"/>
            <a:ext cx="244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01939" y="3598068"/>
            <a:ext cx="1223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25455" y="3598068"/>
            <a:ext cx="2788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13750" y="3598068"/>
            <a:ext cx="2768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160043"/>
            <a:ext cx="1745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54758" y="4160043"/>
            <a:ext cx="244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01939" y="4160043"/>
            <a:ext cx="1223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455" y="4160043"/>
            <a:ext cx="2788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13750" y="4160043"/>
            <a:ext cx="2768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4722018"/>
            <a:ext cx="1745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54758" y="4722018"/>
            <a:ext cx="244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01939" y="4722018"/>
            <a:ext cx="1223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25455" y="4722018"/>
            <a:ext cx="2788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13750" y="4722018"/>
            <a:ext cx="2768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9600" y="5283993"/>
            <a:ext cx="1745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54758" y="5283993"/>
            <a:ext cx="244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01939" y="5283993"/>
            <a:ext cx="1223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25455" y="5283993"/>
            <a:ext cx="2788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13750" y="5283993"/>
            <a:ext cx="2768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" y="5845968"/>
            <a:ext cx="1745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54758" y="5845968"/>
            <a:ext cx="2447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801939" y="5845968"/>
            <a:ext cx="12235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25455" y="5845968"/>
            <a:ext cx="27882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13750" y="5845968"/>
            <a:ext cx="2768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09600" y="1916906"/>
          <a:ext cx="10972797" cy="3943350"/>
        </p:xfrm>
        <a:graphic>
          <a:graphicData uri="http://schemas.openxmlformats.org/drawingml/2006/table">
            <a:tbl>
              <a:tblPr/>
              <a:tblGrid>
                <a:gridCol w="174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8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Kiến trúc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Tập kiểm thử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Số lượng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Mean Dice (95% CI)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Mean IoU (95% CI)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YOLO11n-seg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In-domain (ACNE04)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0.8625 (0.8521 – 0.8720)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0.7776 (0.7651 – 0.7896)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YOLO26n-seg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In-domain (ACNE04)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0.8647 (0.8551 – 0.8739)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0.7788 (0.7668 – 0.7902)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YOLO11n-seg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1 (Wrinkles)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2.409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0.8746 (0.8693 – 0.8797)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0.7951 (0.7886 – 0.8014)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YOLO26n-seg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1 (Wrinkles)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2.409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0.8736 (0.8687 – 0.8784)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0.7912 (0.7851 – 0.7972)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3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YOLO11n-seg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2 (Whitehead)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7.681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0.7935 (0.7872 – 0.7998)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0.7224 (0.7162 – 0.7285)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340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YOLO26n-seg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2 (Whitehead)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7.681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0.7922 (0.7859 – 0.7984)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0.7187 (0.7126 – 0.7249)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9. KẾT QUẢ CẤP ĐỘ TOÀN ẢNH (IMAGE-LEVEL UNION)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Bảng 3: Hệ Số Dice và IoU Toàn Ảnh (Bootstrap 95% CI)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CC21CF56-33EF-D354-8134-0B26EDD0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Vertical Text Placeholder 40">
            <a:extLst>
              <a:ext uri="{FF2B5EF4-FFF2-40B4-BE49-F238E27FC236}">
                <a16:creationId xmlns:a16="http://schemas.microsoft.com/office/drawing/2014/main" id="{F866F958-9BBE-C928-2CCD-EA4547298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2500" y="5055393"/>
            <a:ext cx="102870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00" y="5055393"/>
            <a:ext cx="1028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10. BIỂU ĐỒ SO SÁNH ĐỐI ĐẦU ĐỊNH LƯỢNG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Hình 3: Tương Quan Hệ Số Mean Dice Đa Miền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24" y="5986463"/>
            <a:ext cx="11239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Nhận xét: Hai mô hình tương đương hoàn toàn ở cấp độ toàn ảnh, không bị sụp đổ phân phối ngoại suy.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E2FCA415-D095-00A2-4303-CCCC38C2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CCE2B65-906D-1418-C7C2-D55909CC4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173957"/>
            <a:ext cx="8267700" cy="4960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5581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45581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45581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Hình Thái Giao Thoa: Ground Truth vs Dự Đoán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12281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6A34A"/>
                </a:solidFill>
                <a:latin typeface="Plus Jakarta Sans"/>
              </a:rPr>
              <a:t>TRÙNG KHỚP 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317081"/>
            <a:ext cx="381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1" i="0" u="none">
                <a:solidFill>
                  <a:srgbClr val="16A34A"/>
                </a:solidFill>
                <a:latin typeface="Plus Jakarta Sans"/>
              </a:rPr>
              <a:t>Dice ≈ 0.79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850481"/>
            <a:ext cx="4000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Mụn sưng viêm rõ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193381"/>
            <a:ext cx="314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Vùng giao thoa chiếm ưu thế, bám sát biên dạng chuẩn.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2281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Plus Jakarta Sans"/>
              </a:rPr>
              <a:t>GIAO THOA BIÊN TỐT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17081"/>
            <a:ext cx="381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1" i="0" u="none">
                <a:solidFill>
                  <a:srgbClr val="2563EB"/>
                </a:solidFill>
                <a:latin typeface="Plus Jakarta Sans"/>
              </a:rPr>
              <a:t>Dice ≈ 0.78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50481"/>
            <a:ext cx="4000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Cụm mụn má - mũi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93381"/>
            <a:ext cx="314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Bắt trọn cụm vi tổn thương, viền biên rộng nhẹ.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012281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DC2626"/>
                </a:solidFill>
                <a:latin typeface="Plus Jakarta Sans"/>
              </a:rPr>
              <a:t>THÁCH THỨC VIÊM ĐỎ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317081"/>
            <a:ext cx="3810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300" b="1" i="0" u="none">
                <a:solidFill>
                  <a:srgbClr val="DC2626"/>
                </a:solidFill>
                <a:latin typeface="Plus Jakarta Sans"/>
              </a:rPr>
              <a:t>Dice ≈ 0.32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850481"/>
            <a:ext cx="388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Ban đỏ lan tỏa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193381"/>
            <a:ext cx="314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Erythema làm mờ ranh giới, giảm điểm giao thoa.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60C4F40-AFF8-D384-0BDA-EB691686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Vertical Text Placeholder 19">
            <a:extLst>
              <a:ext uri="{FF2B5EF4-FFF2-40B4-BE49-F238E27FC236}">
                <a16:creationId xmlns:a16="http://schemas.microsoft.com/office/drawing/2014/main" id="{489BC6F6-1843-CCC8-3617-740290D15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02618"/>
            <a:ext cx="5372100" cy="1485900"/>
          </a:xfrm>
          <a:prstGeom prst="roundRect">
            <a:avLst>
              <a:gd name="adj" fmla="val 641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902618"/>
            <a:ext cx="5372100" cy="1485900"/>
          </a:xfrm>
          <a:prstGeom prst="roundRect">
            <a:avLst>
              <a:gd name="adj" fmla="val 641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160043"/>
            <a:ext cx="239181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01416" y="4160043"/>
            <a:ext cx="187582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77246" y="4160043"/>
            <a:ext cx="186243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39681" y="4160043"/>
            <a:ext cx="203879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78478" y="4160043"/>
            <a:ext cx="280392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736306"/>
            <a:ext cx="23918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01416" y="4736306"/>
            <a:ext cx="18758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77246" y="4736306"/>
            <a:ext cx="1862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39681" y="4736306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478" y="4736306"/>
            <a:ext cx="2803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298281"/>
            <a:ext cx="23918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01416" y="5298281"/>
            <a:ext cx="18758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77246" y="5298281"/>
            <a:ext cx="1862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39681" y="5298281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78478" y="5298281"/>
            <a:ext cx="2803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600" y="5860256"/>
            <a:ext cx="23918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01416" y="5860256"/>
            <a:ext cx="18758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77246" y="5860256"/>
            <a:ext cx="1862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39681" y="5860256"/>
            <a:ext cx="2038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78478" y="5860256"/>
            <a:ext cx="28039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9600" y="3617118"/>
          <a:ext cx="10972797" cy="2257425"/>
        </p:xfrm>
        <a:graphic>
          <a:graphicData uri="http://schemas.openxmlformats.org/drawingml/2006/table">
            <a:tbl>
              <a:tblPr/>
              <a:tblGrid>
                <a:gridCol w="2391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3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Tập dữ liệu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Độ lệch Dice (Δ)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Mức ý nghĩa thô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Mức ý nghĩa Holm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Kết luận Thống kê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2 (Whitehead)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+0.0013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2.19e-33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6.58e-33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Có ý nghĩa (p &lt; 0.001)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Dataset 1 (Wrinkles)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+0.0010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1.48e-18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2.95e-18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Có ý nghĩa (p &lt; 0.001)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57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In-domain (ACNE04)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-0.0022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0.0885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0.0885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Không có ý nghĩa (p &gt; 0.05)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12. KHOẢNG CÁCH NGOẠI SUY &amp; KIỂM ĐỊNH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Bảng 4: Kiểm Định Cặp Wilcoxon và Hiệu Chỉnh Holm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093118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D4ED8"/>
                </a:solidFill>
                <a:latin typeface="Plus Jakarta Sans"/>
              </a:rPr>
              <a:t>KHOẢNG CÁCH YOLO11n-seg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359818"/>
            <a:ext cx="6143625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0.0284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912268"/>
            <a:ext cx="6143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Suy giảm 2.84% khi sang 2 tập kiểm thử độc lập.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8900" y="2093118"/>
            <a:ext cx="5753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D4ED8"/>
                </a:solidFill>
                <a:latin typeface="Plus Jakarta Sans"/>
              </a:rPr>
              <a:t>KHOẢNG CÁCH YOLO26n-seg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900" y="2359818"/>
            <a:ext cx="5753100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0.0318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8900" y="2912268"/>
            <a:ext cx="57531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Suy giảm 3.18% khi sang 2 tập kiểm thử độc lập.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140092D7-2086-D186-8891-3FFEB079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Vertical Text Placeholder 33">
            <a:extLst>
              <a:ext uri="{FF2B5EF4-FFF2-40B4-BE49-F238E27FC236}">
                <a16:creationId xmlns:a16="http://schemas.microsoft.com/office/drawing/2014/main" id="{42C98874-0441-4C8A-EDFE-8787789A8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07731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40781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440781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440781"/>
            <a:ext cx="35052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440781"/>
            <a:ext cx="38100" cy="20002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2440781"/>
            <a:ext cx="38100" cy="2000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77200" y="2440781"/>
            <a:ext cx="38100" cy="2000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Tỷ Lệ Bỏ Sót Tổn Thương Tuyệt Đối (Dice =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879181"/>
            <a:ext cx="11353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Plus Jakarta Sans"/>
              </a:rPr>
              <a:t>Ý nghĩa lâm sàng: YOLO26n-seg vượt trội trong việc ngăn ngừa bỏ sót các vi tổn thương đầu trắng mờ nhạt.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707481"/>
            <a:ext cx="39504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In-domain (ACNE04)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031331"/>
            <a:ext cx="37623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16A34A"/>
                </a:solidFill>
                <a:latin typeface="Plus Jakarta Sans"/>
              </a:rPr>
              <a:t>0.14%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602831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Đồng thuận cao: chỉ 1 ca bỏ sót trên 711 ảnh.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2707481"/>
            <a:ext cx="39504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Wrinkles / Acne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3031331"/>
            <a:ext cx="37623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Plus Jakarta Sans"/>
              </a:rPr>
              <a:t>0.42%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3602831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YOLO26n-seg giảm từ 13 ca xuống 10 ca bỏ sót.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2707481"/>
            <a:ext cx="3848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Whitehead / Acne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031331"/>
            <a:ext cx="37623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Plus Jakarta Sans"/>
              </a:rPr>
              <a:t>5.09%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602831"/>
            <a:ext cx="31051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YOLO26n-seg triệt tiêu 41 ca lỗi âm tính giả.</a:t>
            </a:r>
          </a:p>
        </p:txBody>
      </p:sp>
      <p:sp>
        <p:nvSpPr>
          <p:cNvPr id="22" name="Vertical Text Placeholder 21">
            <a:extLst>
              <a:ext uri="{FF2B5EF4-FFF2-40B4-BE49-F238E27FC236}">
                <a16:creationId xmlns:a16="http://schemas.microsoft.com/office/drawing/2014/main" id="{8153BB4B-0E96-FAB6-AE7E-07873F6E1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3606"/>
            <a:ext cx="109728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3756"/>
            <a:ext cx="109728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83906"/>
            <a:ext cx="109728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6300" y="245983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6300" y="365998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6300" y="486013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Plus Jakarta Sans"/>
              </a:rPr>
              <a:t>14. THẢO LUẬN KHOA HỌC &amp; ĐÓNG GÓP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28662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Ba Đóng Góp Học Thuật Chính Của Bài Báo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2459831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1D4ED8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659981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1D4ED8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4860131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1D4ED8"/>
                </a:solidFill>
                <a:latin typeface="Plus Jakarta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100" y="2393156"/>
            <a:ext cx="878859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Vượt trội định vị cá thể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100" y="2697956"/>
            <a:ext cx="83700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YOLO26n-seg cải thiện tới 8.16% mAP@0.5 nhờ phân giải biên vi mô sắc nét.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3593306"/>
            <a:ext cx="89011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Tính tương đương vùng gộp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2100" y="3898106"/>
            <a:ext cx="8477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Cấp độ toàn ảnh đạt Dice 0.79 – 0.87, phản ánh mức bão hòa diện tích ổn định.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4793456"/>
            <a:ext cx="798849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Độ bền chuyển miền 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2100" y="5098256"/>
            <a:ext cx="76080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Khoảng cách ngoại suy luôn giữ dưới 3.2%, sẵn sàng ứng dụng thực tế.</a:t>
            </a:r>
          </a:p>
        </p:txBody>
      </p:sp>
      <p:sp>
        <p:nvSpPr>
          <p:cNvPr id="20" name="Vertical Text Placeholder 19">
            <a:extLst>
              <a:ext uri="{FF2B5EF4-FFF2-40B4-BE49-F238E27FC236}">
                <a16:creationId xmlns:a16="http://schemas.microsoft.com/office/drawing/2014/main" id="{F170536D-066D-D727-6D01-066231488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C9FD-BBE8-028D-21AD-81F04A49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6AB745AC-B127-7B4C-ADC7-1B9ED50B48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321" y="96086"/>
            <a:ext cx="914558" cy="914558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EFB8044A-A116-57A9-52AF-904BEA985BDA}"/>
              </a:ext>
            </a:extLst>
          </p:cNvPr>
          <p:cNvSpPr txBox="1">
            <a:spLocks/>
          </p:cNvSpPr>
          <p:nvPr/>
        </p:nvSpPr>
        <p:spPr>
          <a:xfrm>
            <a:off x="1222931" y="2573196"/>
            <a:ext cx="1010412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200" b="1" i="0" u="sng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/>
            <a:r>
              <a:rPr lang="en-US" sz="4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XIN CHÂN THÀNH </a:t>
            </a:r>
          </a:p>
          <a:p>
            <a:pPr algn="ctr"/>
            <a:r>
              <a:rPr lang="en-US" sz="4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CẢM ƠN</a:t>
            </a:r>
          </a:p>
        </p:txBody>
      </p:sp>
    </p:spTree>
    <p:extLst>
      <p:ext uri="{BB962C8B-B14F-4D97-AF65-F5344CB8AC3E}">
        <p14:creationId xmlns:p14="http://schemas.microsoft.com/office/powerpoint/2010/main" val="257907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1C3E0E11E3C14DB8CC463B310C9E56" ma:contentTypeVersion="4" ma:contentTypeDescription="Create a new document." ma:contentTypeScope="" ma:versionID="caeda2aa623c0ef01ab999e1d101e056">
  <xsd:schema xmlns:xsd="http://www.w3.org/2001/XMLSchema" xmlns:xs="http://www.w3.org/2001/XMLSchema" xmlns:p="http://schemas.microsoft.com/office/2006/metadata/properties" xmlns:ns3="1a83fd15-5657-4a22-9ce7-e4a2e2386d46" targetNamespace="http://schemas.microsoft.com/office/2006/metadata/properties" ma:root="true" ma:fieldsID="10c5e2f06def696556f50c00c4e05f73" ns3:_="">
    <xsd:import namespace="1a83fd15-5657-4a22-9ce7-e4a2e2386d4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3fd15-5657-4a22-9ce7-e4a2e2386d4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FD0B45-6FF2-4CE6-8A61-1123CFAF2D9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4219C-FE3C-4147-88DA-5EE4E2F5D2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0C364-99E6-46CB-B993-3417A39447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3fd15-5657-4a22-9ce7-e4a2e2386d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1399</Words>
  <Application>Microsoft Office PowerPoint</Application>
  <PresentationFormat>Widescreen</PresentationFormat>
  <Paragraphs>233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Plus Jakarta Sans</vt:lpstr>
      <vt:lpstr>UTM Neutra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Truong Ngoc Son-Khoa QLDA</dc:creator>
  <cp:lastModifiedBy>Nguyễn Nhất Vương</cp:lastModifiedBy>
  <cp:revision>17</cp:revision>
  <dcterms:created xsi:type="dcterms:W3CDTF">2022-10-04T00:50:19Z</dcterms:created>
  <dcterms:modified xsi:type="dcterms:W3CDTF">2026-10-14T12:55:43Z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0x010100A71C3E0E11E3C14DB8CC463B310C9E56</vt:lpwstr>
  </property>
</Properties>
</file>